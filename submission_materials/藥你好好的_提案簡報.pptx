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5943600" cy="5943600"/>
          </a:xfrm>
          <a:prstGeom prst="ellipse">
            <a:avLst/>
          </a:prstGeom>
          <a:solidFill>
            <a:srgbClr val="0E6153">
              <a:alpha val="80000"/>
            </a:srgbClr>
          </a:solidFill>
          <a:ln w="12700">
            <a:solidFill>
              <a:srgbClr val="0E61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194560" y="4937760"/>
            <a:ext cx="4023360" cy="4023360"/>
          </a:xfrm>
          <a:prstGeom prst="ellipse">
            <a:avLst/>
          </a:prstGeom>
          <a:solidFill>
            <a:srgbClr val="0E6153">
              <a:alpha val="65000"/>
            </a:srgbClr>
          </a:solidFill>
          <a:ln w="12700">
            <a:solidFill>
              <a:srgbClr val="0E615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6C7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LINE AI 創新創業競賽　|　智慧照護組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用藥安全管家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DEB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拍照即查　·　AI 追問　·　主動提醒　·　家屬同步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4301338"/>
            <a:ext cx="404165" cy="40416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83080" y="411480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618" y="4301338"/>
            <a:ext cx="404165" cy="40416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0" y="411480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738" y="4301338"/>
            <a:ext cx="404165" cy="40416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703320" y="4114800"/>
            <a:ext cx="777240" cy="7772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858" y="4301338"/>
            <a:ext cx="404165" cy="4041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FCD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　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藥你好好的</a:t>
            </a:r>
            <a:pPr indent="0" marL="0">
              <a:buNone/>
            </a:pPr>
            <a:r>
              <a:rPr lang="en-US" sz="2200" dirty="0">
                <a:solidFill>
                  <a:srgbClr val="9FCD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隊長　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黃昱謙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問題與目標族群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獨居長者，正在獨自承擔用藥風險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看不懂、記不住、沒人知道——三個環節都可能出事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377440"/>
            <a:ext cx="868680" cy="86868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585923"/>
            <a:ext cx="451714" cy="45171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藥品資訊看不懂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9776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包裝上的成分與警語難以判讀，長者容易誤用，或重複服用相同成分的藥。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4256" y="20574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54296" y="2377440"/>
            <a:ext cx="868680" cy="86868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79" y="2585923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54296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忘記吃藥、漏吃難追蹤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4654296" y="39776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長期多重用藥，常記不得吃過沒有，也沒有可以回頭查的紀錄。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19872" y="20574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9912" y="2377440"/>
            <a:ext cx="868680" cy="86868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395" y="2585923"/>
            <a:ext cx="451714" cy="45171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39912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家屬無法即時掌握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439912" y="39776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子女不在身邊，藥品風險或過敏狀況往往事後才知道。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68680" y="544068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C7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目標族群　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獨居長者・慢性病用藥患者（使用端）　＋　照顧家屬（監督端）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　市場需求佐證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高齡＋多重用藥，用藥風險正在放大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台灣已於 2025 年正式邁入超高齡社會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467 萬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年台灣 65 歲以上人口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占總人口 20.06%，正式邁入超高齡社會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20574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17136" y="2331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6 成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歲以上長者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合併有 2 種以上慢性病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19872" y="20574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02752" y="2331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 成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35204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歲以上長者有多重用藥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（同時服用 5 種以上藥物）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02920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C7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　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需要一個「主動、免安裝、家屬也能參與」的用藥守護工具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97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資料來源：內政部 2025 年人口統計（中央社 2026/1/9 報導）；衛福部國民健康署 104 年「中老年身心社會生活狀況長期追蹤調查」；國家衛生研究院長者多重用藥衛教資料。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　解決方案總覽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上的用藥安全管家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免安裝新 App，用長者最熟悉的 LINE 完成整套用藥安全流程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377440"/>
            <a:ext cx="822960" cy="82296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10" y="257495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拍照查詢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94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傳藥品或藥袋照片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246120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19095" y="210312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13455" y="2377440"/>
            <a:ext cx="822960" cy="82296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966" y="25749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56255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安全判定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3001975" y="3794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紅綠燈報告＋成分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063" y="3246120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89550" y="210312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683910" y="2377440"/>
            <a:ext cx="822960" cy="82296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421" y="2574950"/>
            <a:ext cx="427939" cy="42793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22671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追問對話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5272430" y="3794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藥師依報告回答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518" y="3246120"/>
            <a:ext cx="219456" cy="21945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360006" y="210312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7954366" y="2377440"/>
            <a:ext cx="822960" cy="82296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1876" y="2574950"/>
            <a:ext cx="427939" cy="427939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497166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提醒與打卡</a:t>
            </a:r>
            <a:endParaRPr lang="en-US" sz="1900" dirty="0"/>
          </a:p>
        </p:txBody>
      </p:sp>
      <p:sp>
        <p:nvSpPr>
          <p:cNvPr id="28" name="Text 19"/>
          <p:cNvSpPr txBox="1"/>
          <p:nvPr/>
        </p:nvSpPr>
        <p:spPr>
          <a:xfrm>
            <a:off x="7542886" y="3794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定時推播，一鍵記錄</a:t>
            </a:r>
            <a:endParaRPr lang="en-US" sz="14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9974" y="3246120"/>
            <a:ext cx="219456" cy="219456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630461" y="210312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10224821" y="2377440"/>
            <a:ext cx="822960" cy="82296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2331" y="2574950"/>
            <a:ext cx="427939" cy="427939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767621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家屬同步</a:t>
            </a:r>
            <a:endParaRPr lang="en-US" sz="1900" dirty="0"/>
          </a:p>
        </p:txBody>
      </p:sp>
      <p:sp>
        <p:nvSpPr>
          <p:cNvPr id="34" name="Text 23"/>
          <p:cNvSpPr txBox="1"/>
          <p:nvPr/>
        </p:nvSpPr>
        <p:spPr>
          <a:xfrm>
            <a:off x="9813341" y="3794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過敏衝突通知家人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548640" y="493776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25"/>
          <p:cNvSpPr txBox="1"/>
          <p:nvPr/>
        </p:nvSpPr>
        <p:spPr>
          <a:xfrm>
            <a:off x="868680" y="4937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核心優勢　</a:t>
            </a:r>
            <a:pPr indent="0" marL="0">
              <a:buNone/>
            </a:pPr>
            <a:r>
              <a:rPr lang="en-US" sz="17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多個 AI 角色分工（辨識、查證、翻譯、把關、追問），直接接上 LINE 的聊天室、卡片與頁面。AI 負責判讀與提醒，最後仍請使用者諮詢醫師或藥師。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　核心功能 ①②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拍照得到紅綠燈，看不懂就直接問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全程在 LINE 對話框完成，不用切換任何 App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拍照辨識＋安全紅綠燈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37360" y="2697480"/>
            <a:ext cx="3017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2852928"/>
            <a:ext cx="384048" cy="384048"/>
          </a:xfrm>
          <a:prstGeom prst="ellipse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乙醯胺酚（Acetaminophen）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675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已完成用藥安全分析，點下方按鈕查看完整報告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65960" y="4114800"/>
            <a:ext cx="2560320" cy="329184"/>
          </a:xfrm>
          <a:prstGeom prst="roundRect">
            <a:avLst>
              <a:gd name="adj" fmla="val 33333"/>
            </a:avLst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65960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查看完整報告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示意畫面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 Agent 辨識成分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 OpenFDA、PubMed、ClinicalTrials.gov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安全／注意／危險 三色判定，一眼看懂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196596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AI 藥師追問對話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99632" y="246888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31352" y="2697480"/>
            <a:ext cx="2880360" cy="457200"/>
          </a:xfrm>
          <a:prstGeom prst="roundRect">
            <a:avLst>
              <a:gd name="adj" fmla="val 40000"/>
            </a:avLst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1352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這個可以跟牛奶一起吃嗎？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28232" y="3291840"/>
            <a:ext cx="4023360" cy="1051560"/>
          </a:xfrm>
          <a:prstGeom prst="roundRect">
            <a:avLst>
              <a:gd name="adj" fmla="val 13043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11112" y="33649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我會依您的安全報告回答；若有疑慮或症狀，請務必詢問醫師或藥師喔。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57232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示意畫面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99632" y="498348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依報告內容回答，用語白話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每次回答都提醒諮詢醫師或藥師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追問式對話，降低長者操作門檻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　核心功能 ③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主動提醒、一鍵打卡、漏吃可查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每位使用者自訂時段，每一次服藥都有紀錄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個人化提醒時段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34256" y="20116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08576" y="2194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一鍵打卡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19872" y="20116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94192" y="2194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漏吃可以查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2788920"/>
            <a:ext cx="2971800" cy="438912"/>
          </a:xfrm>
          <a:prstGeom prst="roundRect">
            <a:avLst>
              <a:gd name="adj" fmla="val 25000"/>
            </a:avLst>
          </a:prstGeom>
          <a:solidFill>
            <a:srgbClr val="E3F9EA"/>
          </a:solidFill>
          <a:ln w="12700">
            <a:solidFill>
              <a:srgbClr val="E3F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7889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早上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788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08:00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337560"/>
            <a:ext cx="2971800" cy="438912"/>
          </a:xfrm>
          <a:prstGeom prst="roundRect">
            <a:avLst>
              <a:gd name="adj" fmla="val 25000"/>
            </a:avLst>
          </a:prstGeom>
          <a:solidFill>
            <a:srgbClr val="E3F9EA"/>
          </a:solidFill>
          <a:ln w="12700">
            <a:solidFill>
              <a:srgbClr val="E3F9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3375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中午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3375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886200"/>
            <a:ext cx="2971800" cy="438912"/>
          </a:xfrm>
          <a:prstGeom prst="roundRect">
            <a:avLst>
              <a:gd name="adj" fmla="val 25000"/>
            </a:avLst>
          </a:prstGeom>
          <a:solidFill>
            <a:srgbClr val="E3F9EA"/>
          </a:solidFill>
          <a:ln w="12700">
            <a:solidFill>
              <a:srgbClr val="E3F9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8862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晚上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886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18:00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434840"/>
            <a:ext cx="2971800" cy="438912"/>
          </a:xfrm>
          <a:prstGeom prst="roundRect">
            <a:avLst>
              <a:gd name="adj" fmla="val 25000"/>
            </a:avLst>
          </a:prstGeom>
          <a:solidFill>
            <a:srgbClr val="E3F9EA"/>
          </a:solidFill>
          <a:ln w="12700">
            <a:solidFill>
              <a:srgbClr val="E3F9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44348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睡前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4434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22:00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029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點選單按鈕即可設定，也能取消；時間自動取整點，由 Cloud Scheduler 每小時檢查並推播。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08576" y="2788920"/>
            <a:ext cx="2971800" cy="1371600"/>
          </a:xfrm>
          <a:prstGeom prst="roundRect">
            <a:avLst>
              <a:gd name="adj" fmla="val 10000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91456" y="28803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該吃藥囉！這是您登記的 22:00 服藥提醒。吃完請點下方按鈕打卡。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08576" y="4343400"/>
            <a:ext cx="1371600" cy="411480"/>
          </a:xfrm>
          <a:prstGeom prst="roundRect">
            <a:avLst>
              <a:gd name="adj" fmla="val 26667"/>
            </a:avLst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08576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我吃了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17336" y="4343400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17336" y="4343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服藥紀錄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08576" y="5029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提醒訊息附「我吃了」按鈕，點一下就記錄該時段，長輩不用打字。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9/19（五）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54312" y="2816352"/>
            <a:ext cx="868680" cy="365760"/>
          </a:xfrm>
          <a:prstGeom prst="roundRect">
            <a:avLst>
              <a:gd name="adj" fmla="val 30000"/>
            </a:avLst>
          </a:prstGeom>
          <a:solidFill>
            <a:srgbClr val="E3F9EA"/>
          </a:solidFill>
          <a:ln w="12700">
            <a:solidFill>
              <a:srgbClr val="E3F9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54312" y="28163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08:00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68712" y="2816352"/>
            <a:ext cx="868680" cy="365760"/>
          </a:xfrm>
          <a:prstGeom prst="roundRect">
            <a:avLst>
              <a:gd name="adj" fmla="val 30000"/>
            </a:avLst>
          </a:prstGeom>
          <a:solidFill>
            <a:srgbClr val="E3F9EA"/>
          </a:solidFill>
          <a:ln w="12700">
            <a:solidFill>
              <a:srgbClr val="E3F9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68712" y="28163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22:00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394192" y="33558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9/18（四）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354312" y="3383280"/>
            <a:ext cx="868680" cy="365760"/>
          </a:xfrm>
          <a:prstGeom prst="roundRect">
            <a:avLst>
              <a:gd name="adj" fmla="val 30000"/>
            </a:avLst>
          </a:prstGeom>
          <a:solidFill>
            <a:srgbClr val="E3F9EA"/>
          </a:solidFill>
          <a:ln w="12700">
            <a:solidFill>
              <a:srgbClr val="E3F9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54312" y="33832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08:00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268712" y="3383280"/>
            <a:ext cx="1143000" cy="365760"/>
          </a:xfrm>
          <a:prstGeom prst="roundRect">
            <a:avLst>
              <a:gd name="adj" fmla="val 30000"/>
            </a:avLst>
          </a:prstGeom>
          <a:solidFill>
            <a:srgbClr val="FDEAEA"/>
          </a:solidFill>
          <a:ln w="12700">
            <a:solidFill>
              <a:srgbClr val="FDEA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68712" y="33832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4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22:00 漏吃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394192" y="392277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9/17（三）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354312" y="3950208"/>
            <a:ext cx="868680" cy="365760"/>
          </a:xfrm>
          <a:prstGeom prst="roundRect">
            <a:avLst>
              <a:gd name="adj" fmla="val 30000"/>
            </a:avLst>
          </a:prstGeom>
          <a:solidFill>
            <a:srgbClr val="E3F9EA"/>
          </a:solidFill>
          <a:ln w="12700">
            <a:solidFill>
              <a:srgbClr val="E3F9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54312" y="39502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08:00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268712" y="3950208"/>
            <a:ext cx="868680" cy="365760"/>
          </a:xfrm>
          <a:prstGeom prst="roundRect">
            <a:avLst>
              <a:gd name="adj" fmla="val 30000"/>
            </a:avLst>
          </a:prstGeom>
          <a:solidFill>
            <a:srgbClr val="E3F9EA"/>
          </a:solidFill>
          <a:ln w="12700">
            <a:solidFill>
              <a:srgbClr val="E3F9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68712" y="39502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22:00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394192" y="4526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4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7 天漏吃共 1 次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394192" y="5029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對話或 LIFF 頁面都能查，可切換 7／14／30 天，紅色就是漏吃的那一次。（示意資料）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　核心功能 ④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過敏原比對，異常時通知家屬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每位使用者有自己的過敏清單，AI 遇到風險不替人決定，而是攔下來交給人處理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77440"/>
            <a:ext cx="777240" cy="77724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56397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46888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8EB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登記過敏原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490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LIFF 表單填寫過敏藥物與服用中藥物，資料綁定自己的 LINE 帳號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76879" y="21031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1199" y="2377440"/>
            <a:ext cx="777240" cy="77724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737" y="256397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7119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8EB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3651199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綁定家屬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3651199" y="37490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6 位數代碼，家屬輸入「綁定」即完成（10 分鐘有效）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05118" y="21031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79438" y="2377440"/>
            <a:ext cx="777240" cy="777240"/>
          </a:xfrm>
          <a:prstGeom prst="ellipse">
            <a:avLst/>
          </a:prstGeom>
          <a:solidFill>
            <a:srgbClr val="E6473F"/>
          </a:solidFill>
          <a:ln w="12700">
            <a:solidFill>
              <a:srgbClr val="E6473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563978"/>
            <a:ext cx="404165" cy="40416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25358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8EB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6479438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把關攔截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6479438" y="37490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拍到含過敏成分的藥品，Triage Gate 直接擋下，不做自動分析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9033358" y="21031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07678" y="2377440"/>
            <a:ext cx="777240" cy="77724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215" y="2563978"/>
            <a:ext cx="404165" cy="40416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953598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8EB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2"/>
          <p:cNvSpPr txBox="1"/>
          <p:nvPr/>
        </p:nvSpPr>
        <p:spPr>
          <a:xfrm>
            <a:off x="9307678" y="32918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同步通知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9307678" y="37490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警示同時推播給本人與所有已綁定的家屬，第一時間關心確認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68680" y="544068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C7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HITL 人在迴路　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風險交給人決定：本人、家屬、醫師藥師，AI 只負責發現與通知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　AI 技術架構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多個 AI 角色分工，串成一條可追溯的流程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使用者傳照片／文字　→　Messaging API Webhook　→　Cloud Run（FastAPI）依訊息類型分派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7139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32735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 Agent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8587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Vision 讀取藥品照片，辨識主要成分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3383280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76879" y="23774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05479" y="2560320"/>
            <a:ext cx="640080" cy="64008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098" y="27139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05479" y="32735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Fetcher Agents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605479" y="38587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同步查 OpenFDA 回收、PubMed 文獻、ClinicalTrials.gov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919" y="3383280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05118" y="23774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33718" y="2560320"/>
            <a:ext cx="640080" cy="64008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338" y="271393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33718" y="32735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Medical Translator Agent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433718" y="38587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2.5 Flash 整理成白話報告與紅綠燈判定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158" y="3383280"/>
            <a:ext cx="219456" cy="2194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33358" y="23774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261958" y="2560320"/>
            <a:ext cx="640080" cy="640080"/>
          </a:xfrm>
          <a:prstGeom prst="ellipse">
            <a:avLst/>
          </a:prstGeom>
          <a:solidFill>
            <a:srgbClr val="E6473F"/>
          </a:solidFill>
          <a:ln w="12700">
            <a:solidFill>
              <a:srgbClr val="E6473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5577" y="2713939"/>
            <a:ext cx="332842" cy="33284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261958" y="32735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HITL Triage Gate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9261958" y="38587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比對使用者過敏清單，衝突即攔截並通知家屬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548640" y="489204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777240" y="497433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藥師（追問）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777240" y="5303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依報告脈絡回答，並附醫師藥師提醒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4334256" y="489204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25"/>
          <p:cNvSpPr txBox="1"/>
          <p:nvPr/>
        </p:nvSpPr>
        <p:spPr>
          <a:xfrm>
            <a:off x="4562856" y="497433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 Scheduler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4562856" y="5303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每小時整點觸發，推播對應時段的服藥提醒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8119872" y="489204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28"/>
          <p:cNvSpPr txBox="1"/>
          <p:nvPr/>
        </p:nvSpPr>
        <p:spPr>
          <a:xfrm>
            <a:off x="8348472" y="497433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8348472" y="5303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提醒、過敏、打卡、綁定資料持久保存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技術堆疊：Python・FastAPI　|　Gemini 2.5 Flash　|　Google Cloud Run　|　LINE Messaging API・LIFF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　LINE 生態系整合度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LINE 的每個介面都用在對的地方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039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Messaging API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Webhook 收訊、Reply 即時回覆、Push 主動推播提醒與家屬通知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4256" y="1691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08576" y="1965960"/>
            <a:ext cx="685800" cy="68580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1305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77256" y="2039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Flex Message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08576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紅綠燈安全卡片，按鈕直接連到完整報告頁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19872" y="1691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1965960"/>
            <a:ext cx="685800" cy="68580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3055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62872" y="20391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Quick Reply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94192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一鍵設定提醒、打卡、查紀錄，免打字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37490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8795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1640" y="4096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Rich Menu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48463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常駐選單：過敏登記／服藥提醒／使用說明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334256" y="37490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08576" y="4023360"/>
            <a:ext cx="685800" cy="68580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187952"/>
            <a:ext cx="356616" cy="35661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477256" y="4096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LIFF 頁面 ×2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4608576" y="48463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完整報告頁；過敏登記、打卡與家屬綁定頁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119872" y="37490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94192" y="4023360"/>
            <a:ext cx="685800" cy="68580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4187952"/>
            <a:ext cx="356616" cy="35661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262872" y="4096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聊天室直接傳照片</a:t>
            </a:r>
            <a:endParaRPr lang="en-US" sz="1900" dirty="0"/>
          </a:p>
        </p:txBody>
      </p:sp>
      <p:sp>
        <p:nvSpPr>
          <p:cNvPr id="34" name="Text 26"/>
          <p:cNvSpPr txBox="1"/>
          <p:nvPr/>
        </p:nvSpPr>
        <p:spPr>
          <a:xfrm>
            <a:off x="8394192" y="48463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免安裝免註冊，傳照片就開始辨識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註：家屬通知使用 Messaging API Push（LINE Notify 已停止服務）。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　AI 服務互動展示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從拍照到家屬收到通知的完整流程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691640" cy="457200"/>
          </a:xfrm>
          <a:prstGeom prst="roundRect">
            <a:avLst>
              <a:gd name="adj" fmla="val 24000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長者拍照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8646" y="1600200"/>
            <a:ext cx="1691640" cy="457200"/>
          </a:xfrm>
          <a:prstGeom prst="roundRect">
            <a:avLst>
              <a:gd name="adj" fmla="val 24000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8646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紅綠燈報告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08653" y="1600200"/>
            <a:ext cx="1691640" cy="457200"/>
          </a:xfrm>
          <a:prstGeom prst="roundRect">
            <a:avLst>
              <a:gd name="adj" fmla="val 24000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08653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追問藥師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8659" y="1600200"/>
            <a:ext cx="1691640" cy="457200"/>
          </a:xfrm>
          <a:prstGeom prst="roundRect">
            <a:avLst>
              <a:gd name="adj" fmla="val 24000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88659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定時提醒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8666" y="1600200"/>
            <a:ext cx="1691640" cy="457200"/>
          </a:xfrm>
          <a:prstGeom prst="roundRect">
            <a:avLst>
              <a:gd name="adj" fmla="val 24000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68666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一鍵打卡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48672" y="1600200"/>
            <a:ext cx="1691640" cy="457200"/>
          </a:xfrm>
          <a:prstGeom prst="roundRect">
            <a:avLst>
              <a:gd name="adj" fmla="val 24000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48672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異常通知家屬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286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傳照片，收到紅綠燈卡片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6C755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48640" y="27432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請貼入實際 LINE 截圖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334256" y="2286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追問，AI 藥師回答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34256" y="27432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6C755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334256" y="27432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請貼入實際 LINE 截圖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119872" y="2286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家屬同步收到過敏警示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119872" y="27432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6C755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119872" y="27432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請貼入實際 LINE 截圖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A6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　差異化、營運模式與未來規劃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不只是提醒，是有把關的用藥守護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00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738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差異化優勢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免安裝，用 LINE 直接對話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拍照即查，多一層安全判定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專屬過敏比對，家屬同步通知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提醒、打卡、漏吃紀錄整合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4256" y="169164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08576" y="1920240"/>
            <a:ext cx="640080" cy="64008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95" y="20738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85816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營運模式（規劃）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08576" y="278892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B2B2C：與社區藥局、居家照護機構合作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機構訂閱制，依服務人數計費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家屬進階方案（多位家屬）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藥局加值諮詢，提高客戶黏著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19872" y="169164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E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1920240"/>
            <a:ext cx="640080" cy="640080"/>
          </a:xfrm>
          <a:prstGeom prst="ellipse">
            <a:avLst/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811" y="207385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71432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下一階段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94192" y="278892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串接食藥署藥品許可證資料，補上官方成分與狀態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機構用藥數據儀表板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大字版與語音互動介面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0B4F44"/>
          </a:solidFill>
          <a:ln w="12700">
            <a:solidFill>
              <a:srgbClr val="0B4F4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68680" y="539496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C7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效益　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降低用藥風險事故、減輕家屬照護焦慮、提升藥局服務差異化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172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產生內容僅供參考，不能取代醫師或藥師的專業判斷；系統僅儲存 LINE 使用者代號與使用者自行登記的過敏、用藥清單。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5943600" cy="5943600"/>
          </a:xfrm>
          <a:prstGeom prst="ellipse">
            <a:avLst/>
          </a:prstGeom>
          <a:solidFill>
            <a:srgbClr val="0E6153">
              <a:alpha val="80000"/>
            </a:srgbClr>
          </a:solidFill>
          <a:ln w="12700">
            <a:solidFill>
              <a:srgbClr val="0E615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感謝聆聽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DEB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用藥安全管家　|　2026 LINE AI 創新創業競賽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9FCD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　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藥你好好的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9FCD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隊長　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黃昱謙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9FCD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　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0971735036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CD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Icons: Font Awesome Free by Fonticons, Inc. (CC BY 4.0)　fontawesome.com/license/free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LINE用藥安全管家</dc:title>
  <dc:subject>PptxGenJS Presentation</dc:subject>
  <dc:creator>藥你好好的</dc:creator>
  <cp:lastModifiedBy>藥你好好的</cp:lastModifiedBy>
  <cp:revision>1</cp:revision>
  <dcterms:created xsi:type="dcterms:W3CDTF">2026-09-21T17:32:08Z</dcterms:created>
  <dcterms:modified xsi:type="dcterms:W3CDTF">2026-09-21T17:32:08Z</dcterms:modified>
</cp:coreProperties>
</file>